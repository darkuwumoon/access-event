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9" r:id="rId4"/>
    <p:sldId id="265" r:id="rId5"/>
    <p:sldId id="261" r:id="rId6"/>
    <p:sldId id="267" r:id="rId7"/>
    <p:sldId id="268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1F1F"/>
    <a:srgbClr val="E7C187"/>
    <a:srgbClr val="FAFAFC"/>
    <a:srgbClr val="010B40"/>
    <a:srgbClr val="EFF6FE"/>
    <a:srgbClr val="001B46"/>
    <a:srgbClr val="F7F8FA"/>
    <a:srgbClr val="ECE0D2"/>
    <a:srgbClr val="702877"/>
    <a:srgbClr val="E6B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5" autoAdjust="0"/>
  </p:normalViewPr>
  <p:slideViewPr>
    <p:cSldViewPr snapToGrid="0" showGuides="1">
      <p:cViewPr varScale="1">
        <p:scale>
          <a:sx n="70" d="100"/>
          <a:sy n="70" d="100"/>
        </p:scale>
        <p:origin x="30" y="41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0801" y="2026537"/>
            <a:ext cx="7910398" cy="1252437"/>
          </a:xfrm>
          <a:noFill/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0801" y="3432924"/>
            <a:ext cx="7910398" cy="1252437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42" y="1819441"/>
            <a:ext cx="10902118" cy="429758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F22BFD1-5D3D-4CCE-AA1F-3CB0A1CB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55" y="374213"/>
            <a:ext cx="9753600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4482" y="1867526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174481" y="2557613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681594" y="1965693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59692" y="344280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59691" y="413288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681594" y="3540968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151332" y="4957912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51331" y="5647999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681594" y="5116243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6562925-5247-4CD9-8F00-306CD15D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55" y="374213"/>
            <a:ext cx="9753600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rkUwUMoon/access-even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rkUwUMoon/access-eve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8800" b="1" i="0" strike="noStrike" dirty="0">
                <a:solidFill>
                  <a:srgbClr val="F0F6FC"/>
                </a:solidFill>
                <a:effectLst/>
                <a:latin typeface="Bodoni MT Condensed" panose="02070606080606020203" pitchFamily="18" charset="0"/>
                <a:hlinkClick r:id="rId2"/>
              </a:rPr>
              <a:t>Access-Event</a:t>
            </a:r>
            <a:endParaRPr lang="ru-RU" sz="8800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12EB3AD-63B4-12D0-9026-49B84A88C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0801" y="3125337"/>
            <a:ext cx="8231498" cy="3384645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инклюзивная</a:t>
            </a:r>
            <a:r>
              <a:rPr lang="ru-RU" sz="3200" dirty="0">
                <a:solidFill>
                  <a:srgbClr val="AD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платформа мероприятий.</a:t>
            </a:r>
            <a:endParaRPr lang="en-US" sz="3200" dirty="0">
              <a:solidFill>
                <a:srgbClr val="AD1F1F"/>
              </a:solidFill>
              <a:effectLst/>
              <a:latin typeface="Bodoni MT Condensed" panose="02070606080606020203" pitchFamily="18" charset="0"/>
              <a:ea typeface="Times New Roman" panose="02020603050405020304" pitchFamily="18" charset="0"/>
            </a:endParaRPr>
          </a:p>
          <a:p>
            <a:endParaRPr lang="en-US" sz="2000" dirty="0">
              <a:effectLst/>
              <a:latin typeface="Bodoni MT Condensed" panose="02070606080606020203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Кравцова Ангелина Андреевна,</a:t>
            </a:r>
          </a:p>
          <a:p>
            <a:r>
              <a:rPr lang="ru-RU" sz="1800" dirty="0">
                <a:effectLst/>
                <a:ea typeface="Times New Roman" panose="02020603050405020304" pitchFamily="18" charset="0"/>
              </a:rPr>
              <a:t>22ИС-25</a:t>
            </a:r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AD1F1F"/>
                </a:solidFill>
              </a:rPr>
              <a:t>Проблема и Цель</a:t>
            </a:r>
            <a:endParaRPr lang="ru-RU" dirty="0">
              <a:solidFill>
                <a:srgbClr val="AD1F1F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5F8B71-B3F0-4B5B-9889-A669C9287628}"/>
              </a:ext>
            </a:extLst>
          </p:cNvPr>
          <p:cNvSpPr/>
          <p:nvPr/>
        </p:nvSpPr>
        <p:spPr>
          <a:xfrm>
            <a:off x="2585279" y="2176568"/>
            <a:ext cx="2601905" cy="276621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5084F8-7ED0-4481-8986-ABD6CA5AAB40}"/>
              </a:ext>
            </a:extLst>
          </p:cNvPr>
          <p:cNvSpPr/>
          <p:nvPr/>
        </p:nvSpPr>
        <p:spPr>
          <a:xfrm>
            <a:off x="3530159" y="1835267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6958-C773-4B08-BE3D-14C716C80F2A}"/>
              </a:ext>
            </a:extLst>
          </p:cNvPr>
          <p:cNvSpPr txBox="1"/>
          <p:nvPr/>
        </p:nvSpPr>
        <p:spPr>
          <a:xfrm>
            <a:off x="3539685" y="1842679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8D1042-DD36-4B2C-B3A2-D1C9C9A0154B}"/>
              </a:ext>
            </a:extLst>
          </p:cNvPr>
          <p:cNvSpPr/>
          <p:nvPr/>
        </p:nvSpPr>
        <p:spPr>
          <a:xfrm>
            <a:off x="7099860" y="2194286"/>
            <a:ext cx="2601905" cy="276621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8148BF-EC4D-4C25-9613-E60EB4681F26}"/>
              </a:ext>
            </a:extLst>
          </p:cNvPr>
          <p:cNvSpPr txBox="1">
            <a:spLocks/>
          </p:cNvSpPr>
          <p:nvPr/>
        </p:nvSpPr>
        <p:spPr>
          <a:xfrm>
            <a:off x="7205544" y="2668146"/>
            <a:ext cx="2411816" cy="181849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платформа с визуальными уведомлениями и текстовым чатом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B958B4-7F8C-4E5D-9E45-B4A7C4FBE2A1}"/>
              </a:ext>
            </a:extLst>
          </p:cNvPr>
          <p:cNvSpPr/>
          <p:nvPr/>
        </p:nvSpPr>
        <p:spPr>
          <a:xfrm>
            <a:off x="8044740" y="1852985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C40FA-A6EA-4665-A64E-AE4962E1FD08}"/>
              </a:ext>
            </a:extLst>
          </p:cNvPr>
          <p:cNvSpPr txBox="1"/>
          <p:nvPr/>
        </p:nvSpPr>
        <p:spPr>
          <a:xfrm>
            <a:off x="8038093" y="183526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277D8EA-42AF-4569-B3D0-9B80EAC7E0C8}"/>
              </a:ext>
            </a:extLst>
          </p:cNvPr>
          <p:cNvSpPr txBox="1">
            <a:spLocks/>
          </p:cNvSpPr>
          <p:nvPr/>
        </p:nvSpPr>
        <p:spPr>
          <a:xfrm>
            <a:off x="2700489" y="2623557"/>
            <a:ext cx="2411816" cy="207757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Аудитория с нарушениями слуха; </a:t>
            </a:r>
          </a:p>
          <a:p>
            <a:r>
              <a:rPr lang="ru-RU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Отсутствие доступных решений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768" y="294371"/>
            <a:ext cx="9753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Требования и стейкхолдеры</a:t>
            </a:r>
            <a:endParaRPr lang="ru-RU" dirty="0">
              <a:solidFill>
                <a:srgbClr val="AD1F1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430B6-9C49-016B-8EA1-49946B810F72}"/>
              </a:ext>
            </a:extLst>
          </p:cNvPr>
          <p:cNvSpPr txBox="1"/>
          <p:nvPr/>
        </p:nvSpPr>
        <p:spPr>
          <a:xfrm>
            <a:off x="838632" y="1619934"/>
            <a:ext cx="98690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</a:rPr>
              <a:t>FR-15: Статистика для владельца платформы</a:t>
            </a:r>
          </a:p>
          <a:p>
            <a:endParaRPr lang="ru-RU" b="0" i="0" dirty="0">
              <a:effectLst/>
            </a:endParaRPr>
          </a:p>
          <a:p>
            <a:r>
              <a:rPr lang="ru-RU" b="0" i="0" dirty="0">
                <a:effectLst/>
              </a:rPr>
              <a:t>NFR-04: Соответствие WCAG 2.1 AA (доступность)</a:t>
            </a:r>
          </a:p>
          <a:p>
            <a:endParaRPr lang="ru-RU" b="0" i="0" dirty="0">
              <a:effectLst/>
            </a:endParaRPr>
          </a:p>
          <a:p>
            <a:r>
              <a:rPr lang="ru-RU" b="0" i="0" dirty="0">
                <a:effectLst/>
              </a:rPr>
              <a:t>NFR-08: Контейнеризация через </a:t>
            </a:r>
            <a:r>
              <a:rPr lang="ru-RU" b="0" i="0" dirty="0" err="1">
                <a:effectLst/>
              </a:rPr>
              <a:t>Docker</a:t>
            </a:r>
            <a:r>
              <a:rPr lang="ru-RU" b="0" i="0" dirty="0">
                <a:effectLst/>
              </a:rPr>
              <a:t> (GHCR)</a:t>
            </a:r>
            <a:endParaRPr lang="ru-RU" dirty="0"/>
          </a:p>
        </p:txBody>
      </p:sp>
      <p:pic>
        <p:nvPicPr>
          <p:cNvPr id="19" name="Объект 18">
            <a:extLst>
              <a:ext uri="{FF2B5EF4-FFF2-40B4-BE49-F238E27FC236}">
                <a16:creationId xmlns:a16="http://schemas.microsoft.com/office/drawing/2014/main" id="{12C5A7EA-9A3A-0868-5F0B-740651F42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525" y="3341070"/>
            <a:ext cx="10902950" cy="1767118"/>
          </a:xfrm>
        </p:spPr>
      </p:pic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712" y="210440"/>
            <a:ext cx="9753600" cy="13255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Архитектура</a:t>
            </a:r>
            <a:r>
              <a:rPr lang="en-US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 и БД</a:t>
            </a:r>
            <a:endParaRPr lang="ru-RU" dirty="0">
              <a:solidFill>
                <a:srgbClr val="AD1F1F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1B0CE2-E5FC-8251-63F5-D902E3907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712" y="1155966"/>
            <a:ext cx="8828690" cy="549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Демонстрация</a:t>
            </a:r>
            <a:r>
              <a:rPr lang="en-US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главной страницы</a:t>
            </a:r>
            <a:endParaRPr lang="ru-RU" dirty="0">
              <a:solidFill>
                <a:srgbClr val="AD1F1F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C54EAB4-3B6D-1BCC-D096-888AEC560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299" y="1467764"/>
            <a:ext cx="8929046" cy="485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Демонстрация</a:t>
            </a:r>
            <a:r>
              <a:rPr lang="ru-RU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 профиля пользователя</a:t>
            </a:r>
            <a:endParaRPr lang="ru-RU" dirty="0">
              <a:solidFill>
                <a:srgbClr val="AD1F1F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050B62-E666-1C2D-B567-D556A089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2577820"/>
            <a:ext cx="10964805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Демонстрация</a:t>
            </a:r>
            <a:r>
              <a:rPr lang="ru-RU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 профиля организатора</a:t>
            </a:r>
            <a:endParaRPr lang="ru-RU" dirty="0">
              <a:solidFill>
                <a:srgbClr val="AD1F1F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907DF5-E359-C466-A62E-40C5B3F69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2433471"/>
            <a:ext cx="10955279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24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618D-ED06-4009-946E-CDC8CC39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Оценка</a:t>
            </a:r>
            <a:r>
              <a:rPr lang="en-US" dirty="0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 и </a:t>
            </a:r>
            <a:r>
              <a:rPr lang="en-US" dirty="0" err="1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развитие</a:t>
            </a:r>
            <a:endParaRPr lang="ru-RU" dirty="0">
              <a:solidFill>
                <a:srgbClr val="AD1F1F"/>
              </a:solidFill>
            </a:endParaRPr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94C21393-C849-E298-0C07-ECDF5BD77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453347"/>
              </p:ext>
            </p:extLst>
          </p:nvPr>
        </p:nvGraphicFramePr>
        <p:xfrm>
          <a:off x="644526" y="1636081"/>
          <a:ext cx="1090294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070">
                  <a:extLst>
                    <a:ext uri="{9D8B030D-6E8A-4147-A177-3AD203B41FA5}">
                      <a16:colId xmlns:a16="http://schemas.microsoft.com/office/drawing/2014/main" val="3778317530"/>
                    </a:ext>
                  </a:extLst>
                </a:gridCol>
                <a:gridCol w="4544704">
                  <a:extLst>
                    <a:ext uri="{9D8B030D-6E8A-4147-A177-3AD203B41FA5}">
                      <a16:colId xmlns:a16="http://schemas.microsoft.com/office/drawing/2014/main" val="3227079611"/>
                    </a:ext>
                  </a:extLst>
                </a:gridCol>
                <a:gridCol w="4526174">
                  <a:extLst>
                    <a:ext uri="{9D8B030D-6E8A-4147-A177-3AD203B41FA5}">
                      <a16:colId xmlns:a16="http://schemas.microsoft.com/office/drawing/2014/main" val="4111861004"/>
                    </a:ext>
                  </a:extLst>
                </a:gridCol>
              </a:tblGrid>
              <a:tr h="64007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6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Плюсы</a:t>
                      </a:r>
                      <a:endParaRPr lang="ru-RU" sz="3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Минусы</a:t>
                      </a:r>
                      <a:endParaRPr lang="ru-R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43109"/>
                  </a:ext>
                </a:extLst>
              </a:tr>
              <a:tr h="640071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Внутреннее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Силы: инклюзивность на уровне архитектуры (визуальные уведомления, чат, фильтр); автоматические тесты в CI; контейнеризация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Слабости: нет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push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-уведомлений; тесты идут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а продакшен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нет пагинации списка мероприятий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83839"/>
                  </a:ext>
                </a:extLst>
              </a:tr>
              <a:tr h="640071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Внешнее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Возможности: рост аудитории за счёт инклюзивности; интеграция с календарями и соцсетями; субсидии на доступные сервисы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Угрозы: конкуренты с мобильными приложениями; изменение требований доступности (обновления WCAG); утечка персональных данных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7424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BE4000D-E1CB-D328-CA80-D31C2077B32D}"/>
              </a:ext>
            </a:extLst>
          </p:cNvPr>
          <p:cNvSpPr txBox="1"/>
          <p:nvPr/>
        </p:nvSpPr>
        <p:spPr>
          <a:xfrm>
            <a:off x="644526" y="4872251"/>
            <a:ext cx="101372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1" i="0" dirty="0">
                <a:effectLst/>
              </a:rPr>
              <a:t>Направления модернизации</a:t>
            </a:r>
          </a:p>
          <a:p>
            <a:pPr algn="l"/>
            <a:r>
              <a:rPr lang="ru-RU" b="1" i="0" dirty="0">
                <a:effectLst/>
              </a:rPr>
              <a:t>1. </a:t>
            </a:r>
            <a:r>
              <a:rPr lang="ru-RU" b="1" i="0" dirty="0" err="1">
                <a:effectLst/>
              </a:rPr>
              <a:t>Push</a:t>
            </a:r>
            <a:r>
              <a:rPr lang="ru-RU" b="1" i="0" dirty="0">
                <a:effectLst/>
              </a:rPr>
              <a:t>-уведомления о старте мероприятия</a:t>
            </a:r>
          </a:p>
          <a:p>
            <a:pPr algn="l"/>
            <a:r>
              <a:rPr lang="ru-RU" b="1" i="0" dirty="0">
                <a:effectLst/>
              </a:rPr>
              <a:t>2. Интеграция с календарём</a:t>
            </a:r>
          </a:p>
          <a:p>
            <a:pPr algn="l"/>
            <a:r>
              <a:rPr lang="ru-RU" b="1" i="0" dirty="0">
                <a:effectLst/>
              </a:rPr>
              <a:t>3. Автоматические субтитры для видеоматериалов</a:t>
            </a:r>
          </a:p>
          <a:p>
            <a:r>
              <a:rPr lang="ru-RU" b="1" i="0" dirty="0">
                <a:effectLst/>
              </a:rPr>
              <a:t>4. Мобильное приложение (</a:t>
            </a:r>
            <a:r>
              <a:rPr lang="en-US" b="1" i="0" dirty="0">
                <a:effectLst/>
              </a:rPr>
              <a:t>PWA)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85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AD1F1F"/>
                </a:solidFill>
                <a:effectLst/>
                <a:ea typeface="Times New Roman" panose="02020603050405020304" pitchFamily="18" charset="0"/>
              </a:rPr>
              <a:t>Итоги</a:t>
            </a:r>
            <a:r>
              <a:rPr lang="ru-RU" dirty="0">
                <a:solidFill>
                  <a:srgbClr val="AD1F1F"/>
                </a:solidFill>
                <a:ea typeface="Times New Roman" panose="02020603050405020304" pitchFamily="18" charset="0"/>
              </a:rPr>
              <a:t>:</a:t>
            </a:r>
            <a:endParaRPr lang="ru-RU" dirty="0">
              <a:solidFill>
                <a:srgbClr val="AD1F1F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34D1BC-B5DF-AE81-8218-D4354ADCD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DarkUwUMoon</a:t>
            </a:r>
            <a:r>
              <a:rPr lang="en-US" dirty="0">
                <a:hlinkClick r:id="rId2"/>
              </a:rPr>
              <a:t>/access-event: </a:t>
            </a:r>
            <a:r>
              <a:rPr lang="ru-RU" dirty="0">
                <a:hlinkClick r:id="rId2"/>
              </a:rPr>
              <a:t>Инклюзивная платформа мероприятий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185</Words>
  <Application>Microsoft Office PowerPoint</Application>
  <PresentationFormat>Широкоэкранный</PresentationFormat>
  <Paragraphs>37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Bodoni MT Condensed</vt:lpstr>
      <vt:lpstr>Calibri</vt:lpstr>
      <vt:lpstr>Calibri Light</vt:lpstr>
      <vt:lpstr>Times New Roman</vt:lpstr>
      <vt:lpstr>Тема Office</vt:lpstr>
      <vt:lpstr>Access-Event</vt:lpstr>
      <vt:lpstr>Проблема и Цель</vt:lpstr>
      <vt:lpstr>Требования и стейкхолдеры</vt:lpstr>
      <vt:lpstr>Архитектура и БД</vt:lpstr>
      <vt:lpstr>Демонстрация главной страницы</vt:lpstr>
      <vt:lpstr>Демонстрация профиля пользователя</vt:lpstr>
      <vt:lpstr>Демонстрация профиля организатора</vt:lpstr>
      <vt:lpstr>Оценка и развитие</vt:lpstr>
      <vt:lpstr>Итоги: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Рамка с мягкими формами - шаблон презентации с сайта presentation-creation.ru</dc:title>
  <dc:creator>User Obstinate</dc:creator>
  <cp:lastModifiedBy>Ангелина Кравцова</cp:lastModifiedBy>
  <cp:revision>73</cp:revision>
  <dcterms:created xsi:type="dcterms:W3CDTF">2025-04-04T15:20:50Z</dcterms:created>
  <dcterms:modified xsi:type="dcterms:W3CDTF">2026-10-16T09:33:37Z</dcterms:modified>
</cp:coreProperties>
</file>